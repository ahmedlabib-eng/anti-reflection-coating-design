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4" d="100"/>
          <a:sy n="104" d="100"/>
        </p:scale>
        <p:origin x="-378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66E49-DF29-4B3A-879A-759B5762E62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94633-2072-40DA-81CB-A49A8FDF2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39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tmp" /><Relationship Id="rId5" Type="http://schemas.openxmlformats.org/officeDocument/2006/relationships/image" Target="../media/image3.tmp" /><Relationship Id="rId4" Type="http://schemas.openxmlformats.org/officeDocument/2006/relationships/image" Target="../media/image2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65A82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3657600" cy="3657600"/>
          </a:xfrm>
          <a:prstGeom prst="ellipse">
            <a:avLst/>
          </a:prstGeom>
          <a:solidFill>
            <a:srgbClr val="1C7293">
              <a:alpha val="55000"/>
            </a:srgbClr>
          </a:solidFill>
          <a:ln w="12700">
            <a:solidFill>
              <a:srgbClr val="1C7293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ANTI-REFLECTION COATING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Bandwidth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Quarter-Wave Matching of a Glass Substrate (εr = 2.25) at 10 GHz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50292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EECG 252 — Electromagnetic Fields and Waves  |  Project 1B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18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 |   Cairo University, Faculty of Engineering   |   Spring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749040"/>
            <a:ext cx="2560320" cy="402336"/>
          </a:xfrm>
          <a:prstGeom prst="roundRect">
            <a:avLst>
              <a:gd name="adj" fmla="val 11364"/>
            </a:avLst>
          </a:prstGeom>
          <a:solidFill>
            <a:srgbClr val="1C7293">
              <a:alpha val="75000"/>
            </a:srgbClr>
          </a:solidFill>
          <a:ln w="12700">
            <a:solidFill>
              <a:srgbClr val="D6E8F2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7490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Elghzaly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749040"/>
            <a:ext cx="2560320" cy="402336"/>
          </a:xfrm>
          <a:prstGeom prst="roundRect">
            <a:avLst>
              <a:gd name="adj" fmla="val 11364"/>
            </a:avLst>
          </a:prstGeom>
          <a:solidFill>
            <a:srgbClr val="1C7293">
              <a:alpha val="75000"/>
            </a:srgbClr>
          </a:solidFill>
          <a:ln w="12700">
            <a:solidFill>
              <a:srgbClr val="D6E8F2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7490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Radwa Ali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3749040"/>
            <a:ext cx="2560320" cy="402336"/>
          </a:xfrm>
          <a:prstGeom prst="roundRect">
            <a:avLst>
              <a:gd name="adj" fmla="val 11364"/>
            </a:avLst>
          </a:prstGeom>
          <a:solidFill>
            <a:srgbClr val="1C7293">
              <a:alpha val="75000"/>
            </a:srgbClr>
          </a:solidFill>
          <a:ln w="12700">
            <a:solidFill>
              <a:srgbClr val="D6E8F2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37490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 Mohamed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43100" y="4315968"/>
            <a:ext cx="2560320" cy="402336"/>
          </a:xfrm>
          <a:prstGeom prst="roundRect">
            <a:avLst>
              <a:gd name="adj" fmla="val 11364"/>
            </a:avLst>
          </a:prstGeom>
          <a:solidFill>
            <a:srgbClr val="1C7293">
              <a:alpha val="75000"/>
            </a:srgbClr>
          </a:solidFill>
          <a:ln w="12700">
            <a:solidFill>
              <a:srgbClr val="D6E8F2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3100" y="43159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H. Abdel-Haleem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0580" y="4315968"/>
            <a:ext cx="2560320" cy="402336"/>
          </a:xfrm>
          <a:prstGeom prst="roundRect">
            <a:avLst>
              <a:gd name="adj" fmla="val 11364"/>
            </a:avLst>
          </a:prstGeom>
          <a:solidFill>
            <a:srgbClr val="1C7293">
              <a:alpha val="75000"/>
            </a:srgbClr>
          </a:solidFill>
          <a:ln w="12700">
            <a:solidFill>
              <a:srgbClr val="D6E8F2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0580" y="43159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A. Elsayed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Instructor: Dr. Mohamed Alaa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&amp; SINGLE-LAYER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E8F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896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Principle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" y="126187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partial reflections cancel by destructive interference when:</a:t>
            </a:r>
            <a:endParaRPr lang="en-US" sz="1250" dirty="0"/>
          </a:p>
          <a:p>
            <a:pPr marL="0" indent="0">
              <a:buNone/>
            </a:pPr>
            <a:r>
              <a:rPr lang="en-US" sz="5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Thickness:  d = λc / 4  (quarter-wave inside coating)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Impedance:  ηc = √(η₀ · ηs)  (geometric mean)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374904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382219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Zin = ηc² / ηs = η₀  →  Γ = 0 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Loss = −20 log₁₀(|Γ|)  [dB]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6 — Design Results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216152"/>
            <a:ext cx="4160520" cy="374904"/>
          </a:xfrm>
          <a:prstGeom prst="rect">
            <a:avLst/>
          </a:prstGeom>
          <a:solidFill>
            <a:srgbClr val="D6E8F2"/>
          </a:solidFill>
          <a:ln w="12700">
            <a:solidFill>
              <a:srgbClr val="D6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16152"/>
            <a:ext cx="20116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66560" y="1216152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 (εr = 2.25)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41605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600200"/>
            <a:ext cx="20116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impedance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66560" y="1600200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ηs = 251.3 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1984248"/>
            <a:ext cx="4160520" cy="374904"/>
          </a:xfrm>
          <a:prstGeom prst="rect">
            <a:avLst/>
          </a:prstGeom>
          <a:solidFill>
            <a:srgbClr val="D6E8F2"/>
          </a:solidFill>
          <a:ln w="12700">
            <a:solidFill>
              <a:srgbClr val="D6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984248"/>
            <a:ext cx="20116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permittivity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66560" y="1984248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εr,c = 1.50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368296"/>
            <a:ext cx="41605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368296"/>
            <a:ext cx="20116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impedance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66560" y="2368296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ηc = 307.8 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752344"/>
            <a:ext cx="4160520" cy="374904"/>
          </a:xfrm>
          <a:prstGeom prst="rect">
            <a:avLst/>
          </a:prstGeom>
          <a:solidFill>
            <a:srgbClr val="D6E8F2"/>
          </a:solidFill>
          <a:ln w="12700">
            <a:solidFill>
              <a:srgbClr val="D6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752344"/>
            <a:ext cx="20116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thickness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66560" y="2752344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6.12 mm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136392"/>
            <a:ext cx="41605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136392"/>
            <a:ext cx="20116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frequency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3136392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 = 10 GHz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584448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648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Derivation Verification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959352"/>
            <a:ext cx="3886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εr,c = (η₀/ηc)² = (377/307.8)² = 1.50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Zin = (307.8)² / 251.3 = 377 Ω = η₀  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 = (377−377)/(377+377) = 0  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TWO-LAYER BINOMIAL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8F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89611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Maximally Flat (Binomial) Approach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" y="1234440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sequential λ/4 layers step η₀ → ηc1 → ηc2 → ηs.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condition: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εr,c2 / εr,c1 = √εr,s = √2.25 = 1.5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εr,c1 = 1.22  →  εr,c2 = 1.84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633472"/>
            <a:ext cx="822960" cy="1828800"/>
          </a:xfrm>
          <a:prstGeom prst="rect">
            <a:avLst/>
          </a:prstGeom>
          <a:solidFill>
            <a:srgbClr val="EE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7706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1363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η₀ = 377 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2633472"/>
            <a:ext cx="1188720" cy="1828800"/>
          </a:xfrm>
          <a:prstGeom prst="rect">
            <a:avLst/>
          </a:prstGeom>
          <a:solidFill>
            <a:srgbClr val="D6E8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770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13639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εr = 1.22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6.79 mm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2633472"/>
            <a:ext cx="1188720" cy="1828800"/>
          </a:xfrm>
          <a:prstGeom prst="rect">
            <a:avLst/>
          </a:prstGeom>
          <a:solidFill>
            <a:srgbClr val="A8CFE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770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313639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εr = 1.84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 mm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2633472"/>
            <a:ext cx="1188720" cy="1828800"/>
          </a:xfrm>
          <a:prstGeom prst="rect">
            <a:avLst/>
          </a:prstGeom>
          <a:solidFill>
            <a:srgbClr val="5B9FB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7706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13639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εr = 2.25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ηs = 251.3Ω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187952"/>
            <a:ext cx="4206240" cy="0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9593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wave  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 Design Parameters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07008"/>
          <a:ext cx="4160520" cy="101498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ηc (Ω)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1 (air side)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 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6.79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 (glass side)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 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5.53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663440" y="1207008"/>
            <a:ext cx="4160520" cy="3383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0016" y="1207008"/>
            <a:ext cx="1481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17920" y="1207008"/>
            <a:ext cx="5669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821424" y="1207008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ηc (Ω)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607808" y="1207008"/>
            <a:ext cx="1088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1545336"/>
            <a:ext cx="4160520" cy="338328"/>
          </a:xfrm>
          <a:prstGeom prst="rect">
            <a:avLst/>
          </a:prstGeom>
          <a:solidFill>
            <a:srgbClr val="D6E8F2"/>
          </a:solidFill>
          <a:ln w="12700">
            <a:solidFill>
              <a:srgbClr val="D6E8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1545336"/>
            <a:ext cx="1417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(air side)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217920" y="1545336"/>
            <a:ext cx="5669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821424" y="1545336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 Ω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607808" y="1545336"/>
            <a:ext cx="1088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6.79 mm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663440" y="1883664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0" y="1883664"/>
            <a:ext cx="1417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(glass side)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17920" y="1883664"/>
            <a:ext cx="5669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821424" y="1883664"/>
            <a:ext cx="7498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Ω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607808" y="1883664"/>
            <a:ext cx="1088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 mm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63440" y="2331720"/>
            <a:ext cx="4160520" cy="2084832"/>
          </a:xfrm>
          <a:prstGeom prst="roundRect">
            <a:avLst>
              <a:gd name="adj" fmla="val 4386"/>
            </a:avLst>
          </a:prstGeom>
          <a:solidFill>
            <a:srgbClr val="21295C">
              <a:alpha val="9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00600" y="2395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800600" y="2761488"/>
            <a:ext cx="38862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Zin,2 = ηc2² / ηs = (278)² / 251.3 ≈ 307.4 Ω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Zin,1 = ηc1² / Zin,2 = (341)² / 307.4 ≈ 379 Ω ≈ η₀  ✓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partial reflections → complete destructive interference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663440" y="4498848"/>
            <a:ext cx="4160520" cy="502920"/>
          </a:xfrm>
          <a:prstGeom prst="roundRect">
            <a:avLst>
              <a:gd name="adj" fmla="val 14545"/>
            </a:avLst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91456" y="45171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improvement: ~49% wider than single-layer  (9.80 GHz vs 6.56 GHz)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&amp; SIMULATION RESULTS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212080" y="8046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658368"/>
            <a:ext cx="4181152" cy="197820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509" y="3174655"/>
            <a:ext cx="4682491" cy="154812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17452" y="673495"/>
            <a:ext cx="4526548" cy="2328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AA7D5A-7BA4-6969-DB4D-0CC4B03E95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9986" y="2571750"/>
            <a:ext cx="3841180" cy="1978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743200" cy="2743200"/>
          </a:xfrm>
          <a:prstGeom prst="ellipse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CONCLUSIONS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Cross-Group Comparison: Group 6 (Glass) vs Group 9 (Alumina)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33856"/>
            <a:ext cx="2377440" cy="356616"/>
          </a:xfrm>
          <a:prstGeom prst="rect">
            <a:avLst/>
          </a:prstGeom>
          <a:solidFill>
            <a:srgbClr val="1C7293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33856"/>
            <a:ext cx="22677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1133856"/>
            <a:ext cx="1645920" cy="356616"/>
          </a:xfrm>
          <a:prstGeom prst="rect">
            <a:avLst/>
          </a:prstGeom>
          <a:solidFill>
            <a:srgbClr val="1C7293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133856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(Glass)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133856"/>
            <a:ext cx="1645920" cy="356616"/>
          </a:xfrm>
          <a:prstGeom prst="rect">
            <a:avLst/>
          </a:prstGeom>
          <a:solidFill>
            <a:srgbClr val="1C7293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133856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9 (Alumina)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490472"/>
            <a:ext cx="2377440" cy="356616"/>
          </a:xfrm>
          <a:prstGeom prst="rect">
            <a:avLst/>
          </a:prstGeom>
          <a:solidFill>
            <a:srgbClr val="1F3251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90472"/>
            <a:ext cx="22677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permittivity εr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1490472"/>
            <a:ext cx="1645920" cy="356616"/>
          </a:xfrm>
          <a:prstGeom prst="rect">
            <a:avLst/>
          </a:prstGeom>
          <a:solidFill>
            <a:srgbClr val="1F3251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490472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490472"/>
            <a:ext cx="1645920" cy="356616"/>
          </a:xfrm>
          <a:prstGeom prst="rect">
            <a:avLst/>
          </a:prstGeom>
          <a:solidFill>
            <a:srgbClr val="1F3251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490472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1847088"/>
            <a:ext cx="2377440" cy="356616"/>
          </a:xfrm>
          <a:prstGeom prst="rect">
            <a:avLst/>
          </a:prstGeom>
          <a:solidFill>
            <a:srgbClr val="2B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47088"/>
            <a:ext cx="22677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impedance ηs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1847088"/>
            <a:ext cx="1645920" cy="356616"/>
          </a:xfrm>
          <a:prstGeom prst="rect">
            <a:avLst/>
          </a:prstGeom>
          <a:solidFill>
            <a:srgbClr val="2B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1847088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251.3 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1847088"/>
            <a:ext cx="1645920" cy="356616"/>
          </a:xfrm>
          <a:prstGeom prst="rect">
            <a:avLst/>
          </a:prstGeom>
          <a:solidFill>
            <a:srgbClr val="2B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847088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120.4 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203704"/>
            <a:ext cx="2377440" cy="356616"/>
          </a:xfrm>
          <a:prstGeom prst="rect">
            <a:avLst/>
          </a:prstGeom>
          <a:solidFill>
            <a:srgbClr val="1F3251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03704"/>
            <a:ext cx="22677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ratio η₀/ηs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0" y="2203704"/>
            <a:ext cx="1645920" cy="356616"/>
          </a:xfrm>
          <a:prstGeom prst="rect">
            <a:avLst/>
          </a:prstGeom>
          <a:solidFill>
            <a:srgbClr val="1F3251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2203704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2203704"/>
            <a:ext cx="1645920" cy="356616"/>
          </a:xfrm>
          <a:prstGeom prst="rect">
            <a:avLst/>
          </a:prstGeom>
          <a:solidFill>
            <a:srgbClr val="1F3251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203704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2560320"/>
            <a:ext cx="2377440" cy="356616"/>
          </a:xfrm>
          <a:prstGeom prst="rect">
            <a:avLst/>
          </a:prstGeom>
          <a:solidFill>
            <a:srgbClr val="2B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560320"/>
            <a:ext cx="22677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dB BW (single-layer)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2560320"/>
            <a:ext cx="1645920" cy="356616"/>
          </a:xfrm>
          <a:prstGeom prst="rect">
            <a:avLst/>
          </a:prstGeom>
          <a:solidFill>
            <a:srgbClr val="2B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2560320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GHz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0" y="2560320"/>
            <a:ext cx="1645920" cy="356616"/>
          </a:xfrm>
          <a:prstGeom prst="rect">
            <a:avLst/>
          </a:prstGeom>
          <a:solidFill>
            <a:srgbClr val="2B406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2560320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GHz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2916936"/>
            <a:ext cx="2377440" cy="356616"/>
          </a:xfrm>
          <a:prstGeom prst="rect">
            <a:avLst/>
          </a:prstGeom>
          <a:solidFill>
            <a:srgbClr val="1F3251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916936"/>
            <a:ext cx="226771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BW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0" y="2916936"/>
            <a:ext cx="1645920" cy="356616"/>
          </a:xfrm>
          <a:prstGeom prst="rect">
            <a:avLst/>
          </a:prstGeom>
          <a:solidFill>
            <a:srgbClr val="1F3251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916936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89120" y="2916936"/>
            <a:ext cx="1645920" cy="356616"/>
          </a:xfrm>
          <a:prstGeom prst="rect">
            <a:avLst/>
          </a:prstGeom>
          <a:solidFill>
            <a:srgbClr val="1F3251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2916936"/>
            <a:ext cx="153619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1133856"/>
            <a:ext cx="2926080" cy="2103120"/>
          </a:xfrm>
          <a:prstGeom prst="roundRect">
            <a:avLst>
              <a:gd name="adj" fmla="val 4348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120700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Difference?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53328" y="1572768"/>
            <a:ext cx="26974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εr  →  lower ηs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larger mismatch ratio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steeper |Γ| roll-off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narrower bandwidth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5760" y="32735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20040" y="3657600"/>
            <a:ext cx="2057400" cy="1344168"/>
          </a:xfrm>
          <a:prstGeom prst="roundRect">
            <a:avLst>
              <a:gd name="adj" fmla="val 680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D6E8F2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7033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941832" y="3703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Verified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11480" y="407822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Single-layer: εr,c=1.50, d=6.12 mm. Γ=0 at 10 GHz confirmed by analytical model and CST full-wave simulation (−72 dB null).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14600" y="3657600"/>
            <a:ext cx="2057400" cy="1344168"/>
          </a:xfrm>
          <a:prstGeom prst="roundRect">
            <a:avLst>
              <a:gd name="adj" fmla="val 680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D6E8F2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06040" y="37033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3136392" y="3703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Bandwidth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606040" y="407822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impedance contrast (η₀/ηs=1.50) yields a broad 20 dB BW of 6.4 GHz (64% fractional).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09160" y="3657600"/>
            <a:ext cx="2057400" cy="1344168"/>
          </a:xfrm>
          <a:prstGeom prst="roundRect">
            <a:avLst>
              <a:gd name="adj" fmla="val 680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D6E8F2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37033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5330952" y="3703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Two-Layer Gain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4800600" y="407822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design expands BW to ~9.8 GHz (+49%), spreading the impedance step over two λ/4 stages.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03720" y="3657600"/>
            <a:ext cx="2057400" cy="1344168"/>
          </a:xfrm>
          <a:prstGeom prst="roundRect">
            <a:avLst>
              <a:gd name="adj" fmla="val 680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D6E8F2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95160" y="37033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7525512" y="37033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Errors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995160" y="4078224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±10% thickness error keeps return loss &gt; 30 dB at f₀ due to the shallow, broad Γ null near f₀.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615</Words>
  <Application>Microsoft Office PowerPoint</Application>
  <PresentationFormat>On-screen Show (16:9)</PresentationFormat>
  <Paragraphs>131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Anti-Reflection Coating Design – Group 6</dc:title>
  <dc:subject>PptxGenJS Presentation</dc:subject>
  <dc:creator>PptxGenJS</dc:creator>
  <cp:lastModifiedBy>احمد حسن عبدالحليم لبيب الياس</cp:lastModifiedBy>
  <cp:revision>3</cp:revision>
  <dcterms:created xsi:type="dcterms:W3CDTF">2026-06-12T23:14:00Z</dcterms:created>
  <dcterms:modified xsi:type="dcterms:W3CDTF">2026-06-13T05:22:49Z</dcterms:modified>
</cp:coreProperties>
</file>